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</p:sldIdLst>
  <p:sldSz cx="9144000" cy="5143500" type="screen16x9"/>
  <p:notesSz cx="5143500" cy="9144000"/>
  <p:embeddedFontLst>
    <p:embeddedFont>
      <p:font typeface="Barlow" panose="00000500000000000000" pitchFamily="2" charset="0"/>
      <p:regular r:id="rId15"/>
    </p:embeddedFont>
    <p:embeddedFont>
      <p:font typeface="Spline Sans Bold" panose="020B0604020202020204" charset="0"/>
      <p:regular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0F18"/>
    <a:srgbClr val="070614"/>
    <a:srgbClr val="0706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07" autoAdjust="0"/>
  </p:normalViewPr>
  <p:slideViewPr>
    <p:cSldViewPr snapToGrid="0" snapToObjects="1">
      <p:cViewPr>
        <p:scale>
          <a:sx n="72" d="100"/>
          <a:sy n="72" d="100"/>
        </p:scale>
        <p:origin x="1518" y="6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7715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423A7761-23AD-412B-E2F5-B1B07253BD57}"/>
              </a:ext>
            </a:extLst>
          </p:cNvPr>
          <p:cNvSpPr/>
          <p:nvPr/>
        </p:nvSpPr>
        <p:spPr>
          <a:xfrm>
            <a:off x="8041063" y="4807351"/>
            <a:ext cx="1054719" cy="318641"/>
          </a:xfrm>
          <a:prstGeom prst="rect">
            <a:avLst/>
          </a:prstGeom>
          <a:solidFill>
            <a:srgbClr val="070614"/>
          </a:solidFill>
          <a:ln>
            <a:solidFill>
              <a:srgbClr val="0706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hape 0"/>
          <p:cNvSpPr/>
          <p:nvPr/>
        </p:nvSpPr>
        <p:spPr>
          <a:xfrm>
            <a:off x="540023" y="1449363"/>
            <a:ext cx="2315170" cy="290066"/>
          </a:xfrm>
          <a:prstGeom prst="roundRect">
            <a:avLst>
              <a:gd name="adj" fmla="val 63836"/>
            </a:avLst>
          </a:prstGeom>
          <a:solidFill>
            <a:srgbClr val="004D36"/>
          </a:solidFill>
          <a:ln/>
        </p:spPr>
      </p:sp>
      <p:sp>
        <p:nvSpPr>
          <p:cNvPr id="4" name="Text 1"/>
          <p:cNvSpPr/>
          <p:nvPr/>
        </p:nvSpPr>
        <p:spPr>
          <a:xfrm>
            <a:off x="632594" y="1495648"/>
            <a:ext cx="2587228" cy="197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CAPSTONE PROJECT · DATA ANALYTICS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40023" y="1801118"/>
            <a:ext cx="4209752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Mutual Fund Analytics Platform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540023" y="2461171"/>
            <a:ext cx="4634954" cy="7407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3000"/>
              </a:lnSpc>
            </a:pPr>
            <a:r>
              <a:rPr lang="en-US" sz="12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Built an end-to-end analytics solution using Python, SQLite and Power BI to analyze mutual fund performance and investor behavior.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0023" y="3375422"/>
            <a:ext cx="666080" cy="318641"/>
          </a:xfrm>
          <a:prstGeom prst="roundRect">
            <a:avLst>
              <a:gd name="adj" fmla="val 58111"/>
            </a:avLst>
          </a:prstGeom>
          <a:noFill/>
          <a:ln w="14288">
            <a:solidFill>
              <a:srgbClr val="16FFB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6881" y="3435995"/>
            <a:ext cx="909563" cy="197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PYTHON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1283196" y="3375422"/>
            <a:ext cx="656406" cy="318641"/>
          </a:xfrm>
          <a:prstGeom prst="roundRect">
            <a:avLst>
              <a:gd name="adj" fmla="val 58111"/>
            </a:avLst>
          </a:prstGeom>
          <a:noFill/>
          <a:ln w="14288">
            <a:solidFill>
              <a:srgbClr val="16FFB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390055" y="3435995"/>
            <a:ext cx="899889" cy="197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PANDAS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016696" y="3375422"/>
            <a:ext cx="603721" cy="318641"/>
          </a:xfrm>
          <a:prstGeom prst="roundRect">
            <a:avLst>
              <a:gd name="adj" fmla="val 58111"/>
            </a:avLst>
          </a:prstGeom>
          <a:noFill/>
          <a:ln w="14288">
            <a:solidFill>
              <a:srgbClr val="16FFB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123554" y="3435995"/>
            <a:ext cx="847204" cy="197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SQLITE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697510" y="3375422"/>
            <a:ext cx="753442" cy="318641"/>
          </a:xfrm>
          <a:prstGeom prst="roundRect">
            <a:avLst>
              <a:gd name="adj" fmla="val 58111"/>
            </a:avLst>
          </a:prstGeom>
          <a:noFill/>
          <a:ln w="14288">
            <a:solidFill>
              <a:srgbClr val="16FFB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804368" y="3435995"/>
            <a:ext cx="996925" cy="197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POWER BI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3528045" y="3375422"/>
            <a:ext cx="629543" cy="318641"/>
          </a:xfrm>
          <a:prstGeom prst="roundRect">
            <a:avLst>
              <a:gd name="adj" fmla="val 58111"/>
            </a:avLst>
          </a:prstGeom>
          <a:noFill/>
          <a:ln w="14288">
            <a:solidFill>
              <a:srgbClr val="16FFB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634904" y="3435995"/>
            <a:ext cx="873026" cy="197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GITHUB</a:t>
            </a:r>
            <a:endParaRPr lang="en-US" sz="950" dirty="0"/>
          </a:p>
        </p:txBody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42BA79C6-C169-CE4C-6833-9C7C3278A104}"/>
              </a:ext>
            </a:extLst>
          </p:cNvPr>
          <p:cNvSpPr/>
          <p:nvPr/>
        </p:nvSpPr>
        <p:spPr>
          <a:xfrm>
            <a:off x="4238068" y="3375422"/>
            <a:ext cx="433945" cy="318641"/>
          </a:xfrm>
          <a:prstGeom prst="roundRect">
            <a:avLst>
              <a:gd name="adj" fmla="val 58111"/>
            </a:avLst>
          </a:prstGeom>
          <a:noFill/>
          <a:ln w="14288">
            <a:solidFill>
              <a:srgbClr val="16FFBB"/>
            </a:solidFill>
            <a:prstDash val="solid"/>
          </a:ln>
        </p:spPr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B6239CC6-DEE5-DE28-0BCB-DFFF55E78F0C}"/>
              </a:ext>
            </a:extLst>
          </p:cNvPr>
          <p:cNvSpPr/>
          <p:nvPr/>
        </p:nvSpPr>
        <p:spPr>
          <a:xfrm>
            <a:off x="4348609" y="3435995"/>
            <a:ext cx="873026" cy="197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SQL</a:t>
            </a:r>
            <a:endParaRPr lang="en-US" sz="950" dirty="0"/>
          </a:p>
        </p:txBody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30210986-7E22-65AC-B4D6-9A1ED121C1E2}"/>
              </a:ext>
            </a:extLst>
          </p:cNvPr>
          <p:cNvSpPr/>
          <p:nvPr/>
        </p:nvSpPr>
        <p:spPr>
          <a:xfrm>
            <a:off x="541592" y="4048289"/>
            <a:ext cx="1696925" cy="657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95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Lakshya Arora</a:t>
            </a:r>
          </a:p>
          <a:p>
            <a:pPr>
              <a:lnSpc>
                <a:spcPct val="133000"/>
              </a:lnSpc>
            </a:pPr>
            <a:r>
              <a:rPr lang="en-US" sz="95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Data Analytics Intern</a:t>
            </a:r>
            <a:endParaRPr lang="en-US" sz="950" dirty="0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5BEF166-B2CA-A3A3-4FE6-336D9EEA9A34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5788058" y="17508"/>
            <a:ext cx="3355942" cy="5125992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DB2555E8-3785-FE1C-B8DB-76004336F484}"/>
              </a:ext>
            </a:extLst>
          </p:cNvPr>
          <p:cNvSpPr/>
          <p:nvPr/>
        </p:nvSpPr>
        <p:spPr>
          <a:xfrm>
            <a:off x="8041064" y="4807351"/>
            <a:ext cx="1011520" cy="318641"/>
          </a:xfrm>
          <a:prstGeom prst="rect">
            <a:avLst/>
          </a:prstGeom>
          <a:solidFill>
            <a:srgbClr val="100F18"/>
          </a:solidFill>
          <a:ln>
            <a:solidFill>
              <a:srgbClr val="100F1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2529" y="429295"/>
            <a:ext cx="1230660" cy="243036"/>
          </a:xfrm>
          <a:prstGeom prst="roundRect">
            <a:avLst>
              <a:gd name="adj" fmla="val 66665"/>
            </a:avLst>
          </a:prstGeom>
          <a:solidFill>
            <a:srgbClr val="004D36"/>
          </a:solidFill>
          <a:ln/>
        </p:spPr>
      </p:sp>
      <p:sp>
        <p:nvSpPr>
          <p:cNvPr id="3" name="Text 1"/>
          <p:cNvSpPr/>
          <p:nvPr/>
        </p:nvSpPr>
        <p:spPr>
          <a:xfrm>
            <a:off x="553492" y="469776"/>
            <a:ext cx="1525935" cy="162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PROBLEM STATEMENT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2529" y="719584"/>
            <a:ext cx="3720182" cy="375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3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Problem Statement &amp; Project Objectives</a:t>
            </a:r>
            <a:endParaRPr lang="en-US" sz="2350" dirty="0"/>
          </a:p>
        </p:txBody>
      </p:sp>
      <p:sp>
        <p:nvSpPr>
          <p:cNvPr id="6" name="Text 3"/>
          <p:cNvSpPr/>
          <p:nvPr/>
        </p:nvSpPr>
        <p:spPr>
          <a:xfrm>
            <a:off x="472529" y="1671563"/>
            <a:ext cx="1957388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The Challenge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72528" y="2040958"/>
            <a:ext cx="4316287" cy="8244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Mutual fund data was available across multiple datasets and was difficult to analyze manually.</a:t>
            </a:r>
          </a:p>
          <a:p>
            <a:pPr marL="285750" indent="-2857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Key information such as NAV history, investor transactions, portfolio holdings and fund performance was spread across different files.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344998" y="1655727"/>
            <a:ext cx="1957388" cy="1875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Project Objectives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344998" y="2057288"/>
            <a:ext cx="3201826" cy="17437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  <a:buSzPct val="100000"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• Build a structured ETL pipeline</a:t>
            </a:r>
          </a:p>
          <a:p>
            <a:pPr>
              <a:lnSpc>
                <a:spcPct val="125000"/>
              </a:lnSpc>
              <a:buSzPct val="100000"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• Clean and organize mutual fund datasets</a:t>
            </a:r>
          </a:p>
          <a:p>
            <a:pPr>
              <a:lnSpc>
                <a:spcPct val="125000"/>
              </a:lnSpc>
              <a:buSzPct val="100000"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• Store data in SQLite database</a:t>
            </a:r>
          </a:p>
          <a:p>
            <a:pPr>
              <a:lnSpc>
                <a:spcPct val="125000"/>
              </a:lnSpc>
              <a:buSzPct val="100000"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• Analyze performance and risk metrics</a:t>
            </a:r>
          </a:p>
          <a:p>
            <a:pPr>
              <a:lnSpc>
                <a:spcPct val="125000"/>
              </a:lnSpc>
              <a:buSzPct val="100000"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• Generate investor insights</a:t>
            </a:r>
          </a:p>
          <a:p>
            <a:pPr>
              <a:lnSpc>
                <a:spcPct val="125000"/>
              </a:lnSpc>
              <a:buSzPct val="100000"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• Create interactive Power BI dashboards</a:t>
            </a:r>
            <a:endParaRPr lang="en-US" sz="16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D544D9-0C4F-B6FD-6939-25D6B67C86E9}"/>
              </a:ext>
            </a:extLst>
          </p:cNvPr>
          <p:cNvSpPr/>
          <p:nvPr/>
        </p:nvSpPr>
        <p:spPr>
          <a:xfrm>
            <a:off x="8041063" y="4807351"/>
            <a:ext cx="1054719" cy="318641"/>
          </a:xfrm>
          <a:prstGeom prst="rect">
            <a:avLst/>
          </a:prstGeom>
          <a:solidFill>
            <a:srgbClr val="070614"/>
          </a:solidFill>
          <a:ln>
            <a:solidFill>
              <a:srgbClr val="0706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131" y="505048"/>
            <a:ext cx="982861" cy="277937"/>
          </a:xfrm>
          <a:prstGeom prst="roundRect">
            <a:avLst>
              <a:gd name="adj" fmla="val 64540"/>
            </a:avLst>
          </a:prstGeom>
          <a:solidFill>
            <a:srgbClr val="004D36"/>
          </a:solidFill>
          <a:ln/>
        </p:spPr>
      </p:sp>
      <p:sp>
        <p:nvSpPr>
          <p:cNvPr id="3" name="Text 1"/>
          <p:cNvSpPr/>
          <p:nvPr/>
        </p:nvSpPr>
        <p:spPr>
          <a:xfrm>
            <a:off x="612800" y="549846"/>
            <a:ext cx="1260723" cy="188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DATA SOURCES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23131" y="840879"/>
            <a:ext cx="4872484" cy="415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6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Project Data Sources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22975" y="1629709"/>
            <a:ext cx="1660922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b="1" dirty="0">
                <a:solidFill>
                  <a:schemeClr val="bg1"/>
                </a:solidFill>
                <a:latin typeface="Spline Sans Bold" panose="020B0604020202020204" charset="0"/>
              </a:rPr>
              <a:t>Fund Master Data</a:t>
            </a:r>
          </a:p>
        </p:txBody>
      </p:sp>
      <p:sp>
        <p:nvSpPr>
          <p:cNvPr id="7" name="Text 4"/>
          <p:cNvSpPr/>
          <p:nvPr/>
        </p:nvSpPr>
        <p:spPr>
          <a:xfrm>
            <a:off x="522975" y="1924166"/>
            <a:ext cx="3958382" cy="706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1000"/>
              </a:lnSpc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Contains scheme information such as fund name, category, risk level, expense ratio and AMC details for all schemes used in the project.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4662332" y="1629709"/>
            <a:ext cx="1660922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b="1" dirty="0">
                <a:solidFill>
                  <a:schemeClr val="bg1"/>
                </a:solidFill>
                <a:latin typeface="Spline Sans Bold" panose="020B0604020202020204" charset="0"/>
              </a:rPr>
              <a:t>NAV History</a:t>
            </a:r>
          </a:p>
        </p:txBody>
      </p:sp>
      <p:sp>
        <p:nvSpPr>
          <p:cNvPr id="10" name="Text 6"/>
          <p:cNvSpPr/>
          <p:nvPr/>
        </p:nvSpPr>
        <p:spPr>
          <a:xfrm>
            <a:off x="4662332" y="1924166"/>
            <a:ext cx="3958382" cy="706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1000"/>
              </a:lnSpc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Historical NAV records used to calculate returns, risk metrics, rolling Sharpe ratio, </a:t>
            </a:r>
            <a:r>
              <a:rPr lang="en-US" sz="1400" dirty="0" err="1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VaR</a:t>
            </a: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and CVaR analysis.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522975" y="3161813"/>
            <a:ext cx="1660922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b="1" dirty="0">
                <a:solidFill>
                  <a:schemeClr val="bg1"/>
                </a:solidFill>
                <a:latin typeface="Spline Sans Bold" panose="020B0604020202020204" charset="0"/>
              </a:rPr>
              <a:t>Investor Transactions</a:t>
            </a:r>
          </a:p>
        </p:txBody>
      </p:sp>
      <p:sp>
        <p:nvSpPr>
          <p:cNvPr id="13" name="Text 8"/>
          <p:cNvSpPr/>
          <p:nvPr/>
        </p:nvSpPr>
        <p:spPr>
          <a:xfrm>
            <a:off x="522975" y="3456270"/>
            <a:ext cx="3958382" cy="470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1000"/>
              </a:lnSpc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Transaction-level data containing SIP, Lumpsum and Redemption activities used for cohort and investor behavior analysis.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4662332" y="3161813"/>
            <a:ext cx="1660922" cy="207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b="1" dirty="0">
                <a:solidFill>
                  <a:schemeClr val="bg1"/>
                </a:solidFill>
                <a:latin typeface="Spline Sans Bold" panose="020B0604020202020204" charset="0"/>
              </a:rPr>
              <a:t>Portfolio Holdings</a:t>
            </a:r>
          </a:p>
        </p:txBody>
      </p:sp>
      <p:sp>
        <p:nvSpPr>
          <p:cNvPr id="16" name="Text 10"/>
          <p:cNvSpPr/>
          <p:nvPr/>
        </p:nvSpPr>
        <p:spPr>
          <a:xfrm>
            <a:off x="4662332" y="3456270"/>
            <a:ext cx="3958382" cy="470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1000"/>
              </a:lnSpc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Fund holdings data used to analyze sector allocation and calculate portfolio concentration using HHI.</a:t>
            </a:r>
            <a:endParaRPr lang="en-US" sz="1400" dirty="0"/>
          </a:p>
        </p:txBody>
      </p:sp>
      <p:sp>
        <p:nvSpPr>
          <p:cNvPr id="17" name="Shape 10">
            <a:extLst>
              <a:ext uri="{FF2B5EF4-FFF2-40B4-BE49-F238E27FC236}">
                <a16:creationId xmlns:a16="http://schemas.microsoft.com/office/drawing/2014/main" id="{52BAB2C8-F960-E9D2-2D41-043FC104D60D}"/>
              </a:ext>
            </a:extLst>
          </p:cNvPr>
          <p:cNvSpPr/>
          <p:nvPr/>
        </p:nvSpPr>
        <p:spPr>
          <a:xfrm>
            <a:off x="522975" y="4508377"/>
            <a:ext cx="4269070" cy="318641"/>
          </a:xfrm>
          <a:prstGeom prst="roundRect">
            <a:avLst>
              <a:gd name="adj" fmla="val 58111"/>
            </a:avLst>
          </a:prstGeom>
          <a:noFill/>
          <a:ln w="14288">
            <a:solidFill>
              <a:srgbClr val="16FFBB"/>
            </a:solidFill>
            <a:prstDash val="solid"/>
          </a:ln>
        </p:spPr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AF0B6687-B2E0-37D7-9B2B-974FEF40B05E}"/>
              </a:ext>
            </a:extLst>
          </p:cNvPr>
          <p:cNvSpPr/>
          <p:nvPr/>
        </p:nvSpPr>
        <p:spPr>
          <a:xfrm>
            <a:off x="612800" y="4558121"/>
            <a:ext cx="4117028" cy="2191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950" dirty="0">
                <a:solidFill>
                  <a:srgbClr val="16FFBB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10 datasets | 40 schemes | 46,000+ NAV records | 35,000+ investor transactions</a:t>
            </a:r>
            <a:endParaRPr lang="en-US" sz="95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7C4EF88-A4B3-55A3-2D9A-5427CED70097}"/>
              </a:ext>
            </a:extLst>
          </p:cNvPr>
          <p:cNvSpPr/>
          <p:nvPr/>
        </p:nvSpPr>
        <p:spPr>
          <a:xfrm>
            <a:off x="8041064" y="4807351"/>
            <a:ext cx="1011520" cy="318641"/>
          </a:xfrm>
          <a:prstGeom prst="rect">
            <a:avLst/>
          </a:prstGeom>
          <a:solidFill>
            <a:srgbClr val="070614"/>
          </a:solidFill>
          <a:ln>
            <a:solidFill>
              <a:srgbClr val="0706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81D508B-5EA7-A808-E777-66D8E0334D25}"/>
              </a:ext>
            </a:extLst>
          </p:cNvPr>
          <p:cNvSpPr/>
          <p:nvPr/>
        </p:nvSpPr>
        <p:spPr>
          <a:xfrm>
            <a:off x="8041063" y="4807351"/>
            <a:ext cx="1054719" cy="318641"/>
          </a:xfrm>
          <a:prstGeom prst="rect">
            <a:avLst/>
          </a:prstGeom>
          <a:solidFill>
            <a:srgbClr val="070614"/>
          </a:solidFill>
          <a:ln>
            <a:solidFill>
              <a:srgbClr val="0706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1142" y="355922"/>
            <a:ext cx="1021110" cy="215057"/>
          </a:xfrm>
          <a:prstGeom prst="roundRect">
            <a:avLst>
              <a:gd name="adj" fmla="val 68612"/>
            </a:avLst>
          </a:prstGeom>
          <a:solidFill>
            <a:srgbClr val="004D36"/>
          </a:solidFill>
          <a:ln/>
        </p:spPr>
      </p:sp>
      <p:sp>
        <p:nvSpPr>
          <p:cNvPr id="3" name="Text 1"/>
          <p:cNvSpPr/>
          <p:nvPr/>
        </p:nvSpPr>
        <p:spPr>
          <a:xfrm>
            <a:off x="874886" y="392757"/>
            <a:ext cx="1330821" cy="1413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7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ETL ARCHITECTURE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801142" y="610121"/>
            <a:ext cx="5726088" cy="341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3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Project Architecture &amp; Data Flow</a:t>
            </a:r>
            <a:endParaRPr lang="en-US" sz="23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372" y="1079441"/>
            <a:ext cx="7479432" cy="322532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38319" y="3595367"/>
            <a:ext cx="1508306" cy="188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Serve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1338319" y="2848755"/>
            <a:ext cx="1508306" cy="188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Load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338319" y="2109685"/>
            <a:ext cx="1508306" cy="188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Transform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335509" y="1363756"/>
            <a:ext cx="1508306" cy="148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Extract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801142" y="4434185"/>
            <a:ext cx="7541642" cy="3533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20000"/>
              </a:lnSpc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ETL pipeline collects raw mutual fund data, performs validation and cleaning, stores processed records in SQLite, and generates analytics through Python and Power BI.</a:t>
            </a:r>
            <a:endParaRPr lang="en-US" sz="95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F6095622-C487-6563-15B0-98D73A1CAE41}"/>
              </a:ext>
            </a:extLst>
          </p:cNvPr>
          <p:cNvSpPr/>
          <p:nvPr/>
        </p:nvSpPr>
        <p:spPr>
          <a:xfrm>
            <a:off x="1338319" y="1555323"/>
            <a:ext cx="1508306" cy="188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90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Source:</a:t>
            </a:r>
          </a:p>
          <a:p>
            <a:pPr>
              <a:lnSpc>
                <a:spcPct val="104000"/>
              </a:lnSpc>
            </a:pPr>
            <a:r>
              <a:rPr lang="en-US" sz="90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MFAPI + 10 Raw CSV Datasets</a:t>
            </a:r>
            <a:endParaRPr lang="en-US" sz="900" dirty="0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40A268A1-F7DF-57DD-3523-86F859158ACC}"/>
              </a:ext>
            </a:extLst>
          </p:cNvPr>
          <p:cNvSpPr/>
          <p:nvPr/>
        </p:nvSpPr>
        <p:spPr>
          <a:xfrm>
            <a:off x="1335509" y="2302847"/>
            <a:ext cx="3169816" cy="3081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90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Data Cleaning</a:t>
            </a:r>
          </a:p>
          <a:p>
            <a:pPr>
              <a:lnSpc>
                <a:spcPct val="104000"/>
              </a:lnSpc>
            </a:pPr>
            <a:r>
              <a:rPr lang="en-US" sz="90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Missing Values Handling  Validation &amp; Standardization</a:t>
            </a:r>
            <a:endParaRPr lang="en-US" sz="90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AB6B57F1-BE5B-06F0-2F26-C39F9D91DAF0}"/>
              </a:ext>
            </a:extLst>
          </p:cNvPr>
          <p:cNvSpPr/>
          <p:nvPr/>
        </p:nvSpPr>
        <p:spPr>
          <a:xfrm>
            <a:off x="1338319" y="3033523"/>
            <a:ext cx="1508306" cy="188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90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Store Cleaned Data</a:t>
            </a:r>
          </a:p>
          <a:p>
            <a:pPr>
              <a:lnSpc>
                <a:spcPct val="104000"/>
              </a:lnSpc>
            </a:pPr>
            <a:r>
              <a:rPr lang="en-US" sz="90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into SQLite Database</a:t>
            </a:r>
            <a:endParaRPr lang="en-US" sz="900" dirty="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E88B5B62-80FA-BC9B-A32E-1349600F4535}"/>
              </a:ext>
            </a:extLst>
          </p:cNvPr>
          <p:cNvSpPr/>
          <p:nvPr/>
        </p:nvSpPr>
        <p:spPr>
          <a:xfrm>
            <a:off x="1335508" y="3783905"/>
            <a:ext cx="2360191" cy="2801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90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Python Analytics</a:t>
            </a:r>
          </a:p>
          <a:p>
            <a:pPr>
              <a:lnSpc>
                <a:spcPct val="104000"/>
              </a:lnSpc>
            </a:pPr>
            <a:r>
              <a:rPr lang="en-US" sz="900" b="1" dirty="0">
                <a:solidFill>
                  <a:srgbClr val="000000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Power BI Dashboards Risk &amp; Investor Insights</a:t>
            </a:r>
            <a:endParaRPr lang="en-US" sz="9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2C6ADC8-BF32-3690-681B-BC00E82A6F7A}"/>
              </a:ext>
            </a:extLst>
          </p:cNvPr>
          <p:cNvSpPr/>
          <p:nvPr/>
        </p:nvSpPr>
        <p:spPr>
          <a:xfrm>
            <a:off x="8041064" y="4807351"/>
            <a:ext cx="1011520" cy="318641"/>
          </a:xfrm>
          <a:prstGeom prst="rect">
            <a:avLst/>
          </a:prstGeom>
          <a:solidFill>
            <a:srgbClr val="070614"/>
          </a:solidFill>
          <a:ln>
            <a:solidFill>
              <a:srgbClr val="0706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4187271-ECCC-C6DA-96FF-F2796B18BD61}"/>
              </a:ext>
            </a:extLst>
          </p:cNvPr>
          <p:cNvSpPr/>
          <p:nvPr/>
        </p:nvSpPr>
        <p:spPr>
          <a:xfrm>
            <a:off x="8041063" y="4807351"/>
            <a:ext cx="1054719" cy="318641"/>
          </a:xfrm>
          <a:prstGeom prst="rect">
            <a:avLst/>
          </a:prstGeom>
          <a:solidFill>
            <a:srgbClr val="070614"/>
          </a:solidFill>
          <a:ln>
            <a:solidFill>
              <a:srgbClr val="0706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3131" y="533102"/>
            <a:ext cx="1798886" cy="277937"/>
          </a:xfrm>
          <a:prstGeom prst="roundRect">
            <a:avLst>
              <a:gd name="adj" fmla="val 64540"/>
            </a:avLst>
          </a:prstGeom>
          <a:solidFill>
            <a:srgbClr val="004D36"/>
          </a:solidFill>
          <a:ln/>
        </p:spPr>
      </p:sp>
      <p:sp>
        <p:nvSpPr>
          <p:cNvPr id="3" name="Text 1"/>
          <p:cNvSpPr/>
          <p:nvPr/>
        </p:nvSpPr>
        <p:spPr>
          <a:xfrm>
            <a:off x="612800" y="577900"/>
            <a:ext cx="2076748" cy="1883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1000"/>
              </a:lnSpc>
              <a:buNone/>
            </a:pPr>
            <a:r>
              <a:rPr lang="en-US" sz="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EXPLORATORY DATA ANALYSIS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23131" y="868933"/>
            <a:ext cx="6427068" cy="415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350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EDA Highlights: SIP Growth Trends</a:t>
            </a:r>
            <a:endParaRPr lang="en-US" sz="2350" dirty="0"/>
          </a:p>
        </p:txBody>
      </p:sp>
      <p:sp>
        <p:nvSpPr>
          <p:cNvPr id="10" name="Text 6"/>
          <p:cNvSpPr/>
          <p:nvPr/>
        </p:nvSpPr>
        <p:spPr>
          <a:xfrm>
            <a:off x="4530675" y="4314968"/>
            <a:ext cx="3231431" cy="4708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31000"/>
              </a:lnSpc>
            </a:pPr>
            <a:endParaRPr lang="en-US" sz="115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5D6F13-6D68-70CF-7678-A861C0F6EA8E}"/>
              </a:ext>
            </a:extLst>
          </p:cNvPr>
          <p:cNvSpPr txBox="1"/>
          <p:nvPr/>
        </p:nvSpPr>
        <p:spPr>
          <a:xfrm>
            <a:off x="523131" y="4015004"/>
            <a:ext cx="713345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Barlow" panose="00000500000000000000" pitchFamily="2" charset="0"/>
              </a:rPr>
              <a:t>• SIP inflows increased from ~₹12,000 Cr to ₹31,002 Cr.</a:t>
            </a:r>
          </a:p>
          <a:p>
            <a:r>
              <a:rPr lang="en-US" sz="1600" dirty="0">
                <a:solidFill>
                  <a:schemeClr val="bg1"/>
                </a:solidFill>
                <a:latin typeface="Barlow" panose="00000500000000000000" pitchFamily="2" charset="0"/>
              </a:rPr>
              <a:t>• Highest inflow recorded in Dec 2025.</a:t>
            </a:r>
          </a:p>
          <a:p>
            <a:r>
              <a:rPr lang="en-US" sz="1600" dirty="0">
                <a:solidFill>
                  <a:schemeClr val="bg1"/>
                </a:solidFill>
                <a:latin typeface="Barlow" panose="00000500000000000000" pitchFamily="2" charset="0"/>
              </a:rPr>
              <a:t>• Consistent investor participation indicates strong retail growth.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DA10FB0-FAB5-436A-D80F-7CF59E8B8A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131" y="1342057"/>
            <a:ext cx="8066233" cy="2440293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C97821FE-3E17-7760-1D51-CEE0CACACE33}"/>
              </a:ext>
            </a:extLst>
          </p:cNvPr>
          <p:cNvSpPr/>
          <p:nvPr/>
        </p:nvSpPr>
        <p:spPr>
          <a:xfrm>
            <a:off x="8041064" y="4807351"/>
            <a:ext cx="1011520" cy="318641"/>
          </a:xfrm>
          <a:prstGeom prst="rect">
            <a:avLst/>
          </a:prstGeom>
          <a:solidFill>
            <a:srgbClr val="070614"/>
          </a:solidFill>
          <a:ln>
            <a:solidFill>
              <a:srgbClr val="0706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37776FD-84F5-B702-599B-5FA1114AB1B0}"/>
              </a:ext>
            </a:extLst>
          </p:cNvPr>
          <p:cNvSpPr/>
          <p:nvPr/>
        </p:nvSpPr>
        <p:spPr>
          <a:xfrm>
            <a:off x="8041063" y="4807351"/>
            <a:ext cx="1054719" cy="318641"/>
          </a:xfrm>
          <a:prstGeom prst="rect">
            <a:avLst/>
          </a:prstGeom>
          <a:solidFill>
            <a:srgbClr val="070614"/>
          </a:solidFill>
          <a:ln>
            <a:solidFill>
              <a:srgbClr val="0706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0023" y="594494"/>
            <a:ext cx="955774" cy="290066"/>
          </a:xfrm>
          <a:prstGeom prst="roundRect">
            <a:avLst>
              <a:gd name="adj" fmla="val 63836"/>
            </a:avLst>
          </a:prstGeom>
          <a:solidFill>
            <a:srgbClr val="004D36"/>
          </a:solidFill>
          <a:ln/>
        </p:spPr>
      </p:sp>
      <p:sp>
        <p:nvSpPr>
          <p:cNvPr id="3" name="Text 1"/>
          <p:cNvSpPr/>
          <p:nvPr/>
        </p:nvSpPr>
        <p:spPr>
          <a:xfrm>
            <a:off x="632594" y="640779"/>
            <a:ext cx="1227832" cy="197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EDA FINDINGS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0023" y="946249"/>
            <a:ext cx="466531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350" dirty="0">
                <a:solidFill>
                  <a:schemeClr val="bg1"/>
                </a:solidFill>
                <a:latin typeface="Spline Sans Bold" panose="020B0604020202020204" charset="0"/>
              </a:rPr>
              <a:t>EDA Highlights: Category Inflow Analysis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1B98DE9-1C22-4C73-A7FE-4FA967609F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022" y="1374873"/>
            <a:ext cx="4693317" cy="3539429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45A9B070-76D7-28AC-D88C-0D9355614666}"/>
              </a:ext>
            </a:extLst>
          </p:cNvPr>
          <p:cNvSpPr txBox="1"/>
          <p:nvPr/>
        </p:nvSpPr>
        <p:spPr>
          <a:xfrm>
            <a:off x="5276538" y="1374874"/>
            <a:ext cx="2953062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Spline Sans Bold" panose="020B0604020202020204" charset="0"/>
              </a:rPr>
              <a:t>Key Insights</a:t>
            </a:r>
            <a:endParaRPr lang="en-US" dirty="0">
              <a:solidFill>
                <a:schemeClr val="bg1"/>
              </a:solidFill>
              <a:latin typeface="Spline Sans Bold" panose="020B060402020202020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Barlow" panose="00000500000000000000" pitchFamily="2" charset="0"/>
              </a:rPr>
              <a:t>Equity funds attracted the highest inflows across most months.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Barlow" panose="00000500000000000000" pitchFamily="2" charset="0"/>
              </a:rPr>
              <a:t>Debt fund inflows remained relatively stable.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Barlow" panose="00000500000000000000" pitchFamily="2" charset="0"/>
              </a:rPr>
              <a:t>Hybrid funds showed seasonal fluctuations.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Barlow" panose="00000500000000000000" pitchFamily="2" charset="0"/>
              </a:rPr>
              <a:t>Investor preference shifted towards equity-oriented schemes during market uptrends.</a:t>
            </a:r>
          </a:p>
          <a:p>
            <a:endParaRPr lang="en-US" sz="1600" dirty="0">
              <a:solidFill>
                <a:schemeClr val="bg1"/>
              </a:solidFill>
              <a:latin typeface="Barlow" panose="00000500000000000000" pitchFamily="2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DF53029-965F-1D7D-5D29-D510F729F473}"/>
              </a:ext>
            </a:extLst>
          </p:cNvPr>
          <p:cNvSpPr/>
          <p:nvPr/>
        </p:nvSpPr>
        <p:spPr>
          <a:xfrm>
            <a:off x="8041064" y="4807351"/>
            <a:ext cx="1011520" cy="318641"/>
          </a:xfrm>
          <a:prstGeom prst="rect">
            <a:avLst/>
          </a:prstGeom>
          <a:solidFill>
            <a:srgbClr val="070614"/>
          </a:solidFill>
          <a:ln>
            <a:solidFill>
              <a:srgbClr val="0706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CB4E4CE-50C1-63A5-9169-92149625DED5}"/>
              </a:ext>
            </a:extLst>
          </p:cNvPr>
          <p:cNvSpPr/>
          <p:nvPr/>
        </p:nvSpPr>
        <p:spPr>
          <a:xfrm>
            <a:off x="8041063" y="4807351"/>
            <a:ext cx="1054719" cy="318641"/>
          </a:xfrm>
          <a:prstGeom prst="rect">
            <a:avLst/>
          </a:prstGeom>
          <a:solidFill>
            <a:srgbClr val="070614"/>
          </a:solidFill>
          <a:ln>
            <a:solidFill>
              <a:srgbClr val="0706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0023" y="508397"/>
            <a:ext cx="1670670" cy="290066"/>
          </a:xfrm>
          <a:prstGeom prst="roundRect">
            <a:avLst>
              <a:gd name="adj" fmla="val 63836"/>
            </a:avLst>
          </a:prstGeom>
          <a:solidFill>
            <a:srgbClr val="004D36"/>
          </a:solidFill>
          <a:ln/>
        </p:spPr>
      </p:sp>
      <p:sp>
        <p:nvSpPr>
          <p:cNvPr id="3" name="Text 1"/>
          <p:cNvSpPr/>
          <p:nvPr/>
        </p:nvSpPr>
        <p:spPr>
          <a:xfrm>
            <a:off x="632594" y="554682"/>
            <a:ext cx="1942728" cy="197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PERFORMANCE ANALYTICS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0023" y="860152"/>
            <a:ext cx="4724251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Fund Performance Analytics</a:t>
            </a:r>
            <a:endParaRPr lang="en-US" sz="23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216" y="3604840"/>
            <a:ext cx="192881" cy="15426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F2DEE1F-6B3B-DC40-7860-48DEF9C42F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023" y="1396753"/>
            <a:ext cx="6658024" cy="220808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B297734-AB05-4B78-9FB2-4F0CCC25DBB8}"/>
              </a:ext>
            </a:extLst>
          </p:cNvPr>
          <p:cNvSpPr txBox="1"/>
          <p:nvPr/>
        </p:nvSpPr>
        <p:spPr>
          <a:xfrm>
            <a:off x="441689" y="3668864"/>
            <a:ext cx="748041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Spline Sans Bold" panose="020B0604020202020204" charset="0"/>
              </a:rPr>
              <a:t>Key Points: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Barlow" panose="00000500000000000000" pitchFamily="2" charset="0"/>
              </a:rPr>
              <a:t>Compared top 5 mutual funds against NIFTY 50 and NIFTY 100 benchmarks.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Barlow" panose="00000500000000000000" pitchFamily="2" charset="0"/>
              </a:rPr>
              <a:t>Performance was normalized to a base value of 100 for fair comparison.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Barlow" panose="00000500000000000000" pitchFamily="2" charset="0"/>
              </a:rPr>
              <a:t>Several funds outperformed benchmark indices over the 3-year period.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bg1"/>
                </a:solidFill>
                <a:latin typeface="Barlow" panose="00000500000000000000" pitchFamily="2" charset="0"/>
              </a:rPr>
              <a:t>Return trajectories highlight differences in consistency and volatility.</a:t>
            </a:r>
          </a:p>
          <a:p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8ADE79F-1784-704A-BB37-3CC54B7C006E}"/>
              </a:ext>
            </a:extLst>
          </p:cNvPr>
          <p:cNvSpPr/>
          <p:nvPr/>
        </p:nvSpPr>
        <p:spPr>
          <a:xfrm>
            <a:off x="8041064" y="4807351"/>
            <a:ext cx="1011520" cy="318641"/>
          </a:xfrm>
          <a:prstGeom prst="rect">
            <a:avLst/>
          </a:prstGeom>
          <a:solidFill>
            <a:srgbClr val="070614"/>
          </a:solidFill>
          <a:ln>
            <a:solidFill>
              <a:srgbClr val="0706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5ACB0DA-740F-9BB2-1AFA-3DF9854A74FC}"/>
              </a:ext>
            </a:extLst>
          </p:cNvPr>
          <p:cNvSpPr/>
          <p:nvPr/>
        </p:nvSpPr>
        <p:spPr>
          <a:xfrm>
            <a:off x="8041063" y="4807351"/>
            <a:ext cx="1054719" cy="318641"/>
          </a:xfrm>
          <a:prstGeom prst="rect">
            <a:avLst/>
          </a:prstGeom>
          <a:solidFill>
            <a:srgbClr val="070614"/>
          </a:solidFill>
          <a:ln>
            <a:solidFill>
              <a:srgbClr val="0706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6313" y="442689"/>
            <a:ext cx="1017017" cy="266105"/>
          </a:xfrm>
          <a:prstGeom prst="roundRect">
            <a:avLst>
              <a:gd name="adj" fmla="val 65235"/>
            </a:avLst>
          </a:prstGeom>
          <a:solidFill>
            <a:srgbClr val="004D36"/>
          </a:solidFill>
          <a:ln/>
        </p:spPr>
      </p:sp>
      <p:sp>
        <p:nvSpPr>
          <p:cNvPr id="3" name="Text 1"/>
          <p:cNvSpPr/>
          <p:nvPr/>
        </p:nvSpPr>
        <p:spPr>
          <a:xfrm>
            <a:off x="593080" y="486073"/>
            <a:ext cx="1300683" cy="1793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9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RISK ANALYTICS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6313" y="763042"/>
            <a:ext cx="3901976" cy="4018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3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Advanced Risk &amp; Performance Metrics</a:t>
            </a:r>
            <a:endParaRPr lang="en-US" sz="235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18F61E1-9793-84EF-793D-FC7C28A1CC41}"/>
              </a:ext>
            </a:extLst>
          </p:cNvPr>
          <p:cNvSpPr txBox="1"/>
          <p:nvPr/>
        </p:nvSpPr>
        <p:spPr>
          <a:xfrm>
            <a:off x="506313" y="1408209"/>
            <a:ext cx="4572000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Barlow" panose="00000500000000000000" pitchFamily="2" charset="0"/>
              </a:rPr>
              <a:t>Key Metrics Calculated </a:t>
            </a:r>
          </a:p>
          <a:p>
            <a:endParaRPr lang="en-US" sz="1600" dirty="0">
              <a:solidFill>
                <a:schemeClr val="bg1"/>
              </a:solidFill>
              <a:latin typeface="Barlow" panose="00000500000000000000" pitchFamily="2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Barlow" panose="00000500000000000000" pitchFamily="2" charset="0"/>
              </a:rPr>
              <a:t>• CAGR (3-Year) Analysis</a:t>
            </a:r>
          </a:p>
          <a:p>
            <a:endParaRPr lang="en-US" sz="1600" dirty="0">
              <a:solidFill>
                <a:schemeClr val="bg1"/>
              </a:solidFill>
              <a:latin typeface="Barlow" panose="00000500000000000000" pitchFamily="2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Barlow" panose="00000500000000000000" pitchFamily="2" charset="0"/>
              </a:rPr>
              <a:t>• Sharpe Ratio Evaluation</a:t>
            </a:r>
          </a:p>
          <a:p>
            <a:endParaRPr lang="en-US" sz="1600" dirty="0">
              <a:solidFill>
                <a:schemeClr val="bg1"/>
              </a:solidFill>
              <a:latin typeface="Barlow" panose="00000500000000000000" pitchFamily="2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Barlow" panose="00000500000000000000" pitchFamily="2" charset="0"/>
              </a:rPr>
              <a:t>• Alpha &amp; Beta Calculation</a:t>
            </a:r>
          </a:p>
          <a:p>
            <a:endParaRPr lang="en-US" sz="1600" dirty="0">
              <a:solidFill>
                <a:schemeClr val="bg1"/>
              </a:solidFill>
              <a:latin typeface="Barlow" panose="00000500000000000000" pitchFamily="2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Barlow" panose="00000500000000000000" pitchFamily="2" charset="0"/>
              </a:rPr>
              <a:t>• Maximum Drawdown Analysis</a:t>
            </a:r>
          </a:p>
          <a:p>
            <a:endParaRPr lang="en-US" sz="1600" dirty="0">
              <a:solidFill>
                <a:schemeClr val="bg1"/>
              </a:solidFill>
              <a:latin typeface="Barlow" panose="00000500000000000000" pitchFamily="2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Barlow" panose="00000500000000000000" pitchFamily="2" charset="0"/>
              </a:rPr>
              <a:t>• Fund Scorecard Ranking</a:t>
            </a:r>
          </a:p>
          <a:p>
            <a:endParaRPr lang="en-US" sz="1600" dirty="0">
              <a:solidFill>
                <a:schemeClr val="bg1"/>
              </a:solidFill>
              <a:latin typeface="Barlow" panose="00000500000000000000" pitchFamily="2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Barlow" panose="00000500000000000000" pitchFamily="2" charset="0"/>
              </a:rPr>
              <a:t>• Tracking Error Measurement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08828CA-9A52-A407-3490-50FDE4CD7419}"/>
              </a:ext>
            </a:extLst>
          </p:cNvPr>
          <p:cNvSpPr txBox="1"/>
          <p:nvPr/>
        </p:nvSpPr>
        <p:spPr>
          <a:xfrm>
            <a:off x="4195720" y="1408209"/>
            <a:ext cx="4572000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Key Results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  <a:latin typeface="Barlow" panose="00000500000000000000" pitchFamily="2" charset="0"/>
              </a:rPr>
              <a:t>• Average Alpha: 0.159</a:t>
            </a:r>
          </a:p>
          <a:p>
            <a:endParaRPr lang="en-US" sz="1600" dirty="0">
              <a:solidFill>
                <a:schemeClr val="bg1"/>
              </a:solidFill>
              <a:latin typeface="Barlow" panose="00000500000000000000" pitchFamily="2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Barlow" panose="00000500000000000000" pitchFamily="2" charset="0"/>
              </a:rPr>
              <a:t>• Average Beta: -0.002</a:t>
            </a:r>
          </a:p>
          <a:p>
            <a:endParaRPr lang="en-US" sz="1600" dirty="0">
              <a:solidFill>
                <a:schemeClr val="bg1"/>
              </a:solidFill>
              <a:latin typeface="Barlow" panose="00000500000000000000" pitchFamily="2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Barlow" panose="00000500000000000000" pitchFamily="2" charset="0"/>
              </a:rPr>
              <a:t>• Average Tracking Error: 0.204</a:t>
            </a:r>
          </a:p>
          <a:p>
            <a:endParaRPr lang="en-US" sz="1600" dirty="0">
              <a:solidFill>
                <a:schemeClr val="bg1"/>
              </a:solidFill>
              <a:latin typeface="Barlow" panose="00000500000000000000" pitchFamily="2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Barlow" panose="00000500000000000000" pitchFamily="2" charset="0"/>
              </a:rPr>
              <a:t>• Fund Scores normalized on a 0–100 scale</a:t>
            </a:r>
          </a:p>
          <a:p>
            <a:endParaRPr lang="en-US" sz="1600" dirty="0">
              <a:solidFill>
                <a:schemeClr val="bg1"/>
              </a:solidFill>
              <a:latin typeface="Barlow" panose="00000500000000000000" pitchFamily="2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Barlow" panose="00000500000000000000" pitchFamily="2" charset="0"/>
              </a:rPr>
              <a:t>• Top funds identified using composite ranking methodology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84D028A-A5FA-6AC5-1562-BC58B962344B}"/>
              </a:ext>
            </a:extLst>
          </p:cNvPr>
          <p:cNvSpPr/>
          <p:nvPr/>
        </p:nvSpPr>
        <p:spPr>
          <a:xfrm>
            <a:off x="8041064" y="4807351"/>
            <a:ext cx="1011520" cy="318641"/>
          </a:xfrm>
          <a:prstGeom prst="rect">
            <a:avLst/>
          </a:prstGeom>
          <a:solidFill>
            <a:srgbClr val="070614"/>
          </a:solidFill>
          <a:ln>
            <a:solidFill>
              <a:srgbClr val="0706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85FA896-7DFA-6C28-BA74-537EE721EACC}"/>
              </a:ext>
            </a:extLst>
          </p:cNvPr>
          <p:cNvSpPr/>
          <p:nvPr/>
        </p:nvSpPr>
        <p:spPr>
          <a:xfrm>
            <a:off x="8041063" y="4807351"/>
            <a:ext cx="1054719" cy="318641"/>
          </a:xfrm>
          <a:prstGeom prst="rect">
            <a:avLst/>
          </a:prstGeom>
          <a:solidFill>
            <a:srgbClr val="070614"/>
          </a:solidFill>
          <a:ln>
            <a:solidFill>
              <a:srgbClr val="0706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0938" y="420365"/>
            <a:ext cx="1334914" cy="248617"/>
          </a:xfrm>
          <a:prstGeom prst="roundRect">
            <a:avLst>
              <a:gd name="adj" fmla="val 66332"/>
            </a:avLst>
          </a:prstGeom>
          <a:solidFill>
            <a:srgbClr val="004D36"/>
          </a:solidFill>
          <a:ln/>
        </p:spPr>
      </p:sp>
      <p:sp>
        <p:nvSpPr>
          <p:cNvPr id="3" name="Text 1"/>
          <p:cNvSpPr/>
          <p:nvPr/>
        </p:nvSpPr>
        <p:spPr>
          <a:xfrm>
            <a:off x="563389" y="461590"/>
            <a:ext cx="1627212" cy="1661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POWER BI DASHBOARDS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80938" y="717872"/>
            <a:ext cx="5238378" cy="381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Interactive Analytics Dashboards</a:t>
            </a:r>
            <a:endParaRPr lang="en-US" sz="2350" dirty="0"/>
          </a:p>
        </p:txBody>
      </p:sp>
      <p:sp>
        <p:nvSpPr>
          <p:cNvPr id="5" name="Text 3"/>
          <p:cNvSpPr/>
          <p:nvPr/>
        </p:nvSpPr>
        <p:spPr>
          <a:xfrm>
            <a:off x="480938" y="1405533"/>
            <a:ext cx="2608808" cy="190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Industry Overview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92956" y="1828124"/>
            <a:ext cx="2645792" cy="11675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6000"/>
              </a:lnSpc>
              <a:buSzPct val="100000"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• Interactive filtering by fund category, fund house.</a:t>
            </a:r>
          </a:p>
          <a:p>
            <a:pPr>
              <a:lnSpc>
                <a:spcPct val="126000"/>
              </a:lnSpc>
              <a:buSzPct val="100000"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• AMC-wise performance comparison</a:t>
            </a:r>
          </a:p>
          <a:p>
            <a:pPr>
              <a:lnSpc>
                <a:spcPct val="126000"/>
              </a:lnSpc>
              <a:buSzPct val="100000"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• Monthly SIP trend analysis</a:t>
            </a:r>
          </a:p>
          <a:p>
            <a:pPr>
              <a:lnSpc>
                <a:spcPct val="126000"/>
              </a:lnSpc>
              <a:buSzPct val="100000"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• Dynamic KPI monitoring</a:t>
            </a:r>
          </a:p>
          <a:p>
            <a:pPr>
              <a:lnSpc>
                <a:spcPct val="126000"/>
              </a:lnSpc>
              <a:buSzPct val="100000"/>
            </a:pP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80938" y="3008635"/>
            <a:ext cx="2645792" cy="381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endParaRPr lang="en-US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5826793-2AF4-ABEE-E164-BC258C272F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1873" y="1313623"/>
            <a:ext cx="5238378" cy="3112005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D620479-0A66-1F29-6702-947C31F7BF06}"/>
              </a:ext>
            </a:extLst>
          </p:cNvPr>
          <p:cNvSpPr/>
          <p:nvPr/>
        </p:nvSpPr>
        <p:spPr>
          <a:xfrm>
            <a:off x="8041064" y="4807351"/>
            <a:ext cx="1011520" cy="318641"/>
          </a:xfrm>
          <a:prstGeom prst="rect">
            <a:avLst/>
          </a:prstGeom>
          <a:solidFill>
            <a:srgbClr val="070614"/>
          </a:solidFill>
          <a:ln>
            <a:solidFill>
              <a:srgbClr val="0706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AC83D5B-C73F-9268-2A63-425B7E2B4511}"/>
              </a:ext>
            </a:extLst>
          </p:cNvPr>
          <p:cNvSpPr/>
          <p:nvPr/>
        </p:nvSpPr>
        <p:spPr>
          <a:xfrm>
            <a:off x="8041063" y="4807351"/>
            <a:ext cx="1054719" cy="318641"/>
          </a:xfrm>
          <a:prstGeom prst="rect">
            <a:avLst/>
          </a:prstGeom>
          <a:solidFill>
            <a:srgbClr val="070614"/>
          </a:solidFill>
          <a:ln>
            <a:solidFill>
              <a:srgbClr val="0706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AD6F5B9-5F58-6BBE-509E-52628389C073}"/>
              </a:ext>
            </a:extLst>
          </p:cNvPr>
          <p:cNvSpPr/>
          <p:nvPr/>
        </p:nvSpPr>
        <p:spPr>
          <a:xfrm>
            <a:off x="480938" y="420365"/>
            <a:ext cx="1334914" cy="248617"/>
          </a:xfrm>
          <a:prstGeom prst="roundRect">
            <a:avLst>
              <a:gd name="adj" fmla="val 66332"/>
            </a:avLst>
          </a:prstGeom>
          <a:solidFill>
            <a:srgbClr val="004D36"/>
          </a:solidFill>
          <a:ln/>
        </p:spPr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5C76E148-D124-3840-B17F-0F2250643AEE}"/>
              </a:ext>
            </a:extLst>
          </p:cNvPr>
          <p:cNvSpPr/>
          <p:nvPr/>
        </p:nvSpPr>
        <p:spPr>
          <a:xfrm>
            <a:off x="480938" y="717872"/>
            <a:ext cx="5238378" cy="3817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Interactive Analytics Dashboards</a:t>
            </a:r>
            <a:endParaRPr lang="en-US" sz="2350" dirty="0"/>
          </a:p>
        </p:txBody>
      </p:sp>
      <p:sp>
        <p:nvSpPr>
          <p:cNvPr id="4" name="Text 3">
            <a:extLst>
              <a:ext uri="{FF2B5EF4-FFF2-40B4-BE49-F238E27FC236}">
                <a16:creationId xmlns:a16="http://schemas.microsoft.com/office/drawing/2014/main" id="{F5F35491-DD05-DC98-61B9-AE3C83F36F83}"/>
              </a:ext>
            </a:extLst>
          </p:cNvPr>
          <p:cNvSpPr/>
          <p:nvPr/>
        </p:nvSpPr>
        <p:spPr>
          <a:xfrm>
            <a:off x="480938" y="1405533"/>
            <a:ext cx="2608808" cy="190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Fund Performance Analytics</a:t>
            </a:r>
            <a:endParaRPr lang="en-US" dirty="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44F4E679-373F-910B-463D-A2B488AAF74C}"/>
              </a:ext>
            </a:extLst>
          </p:cNvPr>
          <p:cNvSpPr/>
          <p:nvPr/>
        </p:nvSpPr>
        <p:spPr>
          <a:xfrm>
            <a:off x="492956" y="1828124"/>
            <a:ext cx="2645792" cy="116755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6000"/>
              </a:lnSpc>
              <a:buSzPct val="100000"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• Return vs Risk comparison across fund categories</a:t>
            </a:r>
          </a:p>
          <a:p>
            <a:pPr>
              <a:lnSpc>
                <a:spcPct val="126000"/>
              </a:lnSpc>
              <a:buSzPct val="100000"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• NAV performance against benchmark indices</a:t>
            </a:r>
          </a:p>
          <a:p>
            <a:pPr>
              <a:lnSpc>
                <a:spcPct val="126000"/>
              </a:lnSpc>
              <a:buSzPct val="100000"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• Scheme-level performance comparison using return and risk metrics</a:t>
            </a:r>
          </a:p>
          <a:p>
            <a:pPr>
              <a:lnSpc>
                <a:spcPct val="126000"/>
              </a:lnSpc>
              <a:buSzPct val="100000"/>
            </a:pPr>
            <a:r>
              <a:rPr lang="en-US" sz="16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• Detailed analytics table with CAGR, Sharpe Ratio, Alpha, Beta and Drawdown metrics</a:t>
            </a:r>
            <a:endParaRPr lang="en-US" sz="1600" dirty="0"/>
          </a:p>
        </p:txBody>
      </p:sp>
      <p:sp>
        <p:nvSpPr>
          <p:cNvPr id="8" name="Text 1">
            <a:extLst>
              <a:ext uri="{FF2B5EF4-FFF2-40B4-BE49-F238E27FC236}">
                <a16:creationId xmlns:a16="http://schemas.microsoft.com/office/drawing/2014/main" id="{A4A9E11B-BB21-A1EB-A4BC-66E46301D171}"/>
              </a:ext>
            </a:extLst>
          </p:cNvPr>
          <p:cNvSpPr/>
          <p:nvPr/>
        </p:nvSpPr>
        <p:spPr>
          <a:xfrm>
            <a:off x="563389" y="461590"/>
            <a:ext cx="1627212" cy="1661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8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POWER BI DASHBOARDS</a:t>
            </a:r>
            <a:endParaRPr lang="en-US" sz="85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2BDE323-3A2B-A74B-7548-F39518ED1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7843" y="1148505"/>
            <a:ext cx="5343277" cy="346325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4B14C5A-FED5-3C92-3CB6-85932AEB40FD}"/>
              </a:ext>
            </a:extLst>
          </p:cNvPr>
          <p:cNvSpPr/>
          <p:nvPr/>
        </p:nvSpPr>
        <p:spPr>
          <a:xfrm>
            <a:off x="8041064" y="4807351"/>
            <a:ext cx="1011520" cy="318641"/>
          </a:xfrm>
          <a:prstGeom prst="rect">
            <a:avLst/>
          </a:prstGeom>
          <a:solidFill>
            <a:srgbClr val="070614"/>
          </a:solidFill>
          <a:ln>
            <a:solidFill>
              <a:srgbClr val="0706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AC33F6-6EB8-1C40-A7F8-DDC32E58EE82}"/>
              </a:ext>
            </a:extLst>
          </p:cNvPr>
          <p:cNvSpPr/>
          <p:nvPr/>
        </p:nvSpPr>
        <p:spPr>
          <a:xfrm>
            <a:off x="8041063" y="4807351"/>
            <a:ext cx="1054719" cy="318641"/>
          </a:xfrm>
          <a:prstGeom prst="rect">
            <a:avLst/>
          </a:prstGeom>
          <a:solidFill>
            <a:srgbClr val="070614"/>
          </a:solidFill>
          <a:ln>
            <a:solidFill>
              <a:srgbClr val="0706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4202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368806" y="497198"/>
            <a:ext cx="1849934" cy="231651"/>
          </a:xfrm>
          <a:prstGeom prst="roundRect">
            <a:avLst>
              <a:gd name="adj" fmla="val 67444"/>
            </a:avLst>
          </a:prstGeom>
          <a:solidFill>
            <a:srgbClr val="004D36"/>
          </a:solidFill>
          <a:ln/>
        </p:spPr>
      </p:sp>
      <p:sp>
        <p:nvSpPr>
          <p:cNvPr id="4" name="Text 1"/>
          <p:cNvSpPr/>
          <p:nvPr/>
        </p:nvSpPr>
        <p:spPr>
          <a:xfrm>
            <a:off x="446867" y="536191"/>
            <a:ext cx="2151013" cy="1536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8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KEY FINDINGS &amp; RECOMMENDATIONS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368806" y="878235"/>
            <a:ext cx="3442767" cy="3616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04000"/>
              </a:lnSpc>
            </a:pPr>
            <a:r>
              <a:rPr lang="en-US" sz="22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Key Findings &amp; </a:t>
            </a:r>
            <a:r>
              <a:rPr lang="en-US" sz="23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Recommendations</a:t>
            </a:r>
            <a:endParaRPr lang="en-US" sz="23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33453" y="3779267"/>
            <a:ext cx="195262" cy="19526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543976EA-3862-8494-BEC5-BB28FC74D6DC}"/>
              </a:ext>
            </a:extLst>
          </p:cNvPr>
          <p:cNvSpPr txBox="1"/>
          <p:nvPr/>
        </p:nvSpPr>
        <p:spPr>
          <a:xfrm>
            <a:off x="274968" y="1261660"/>
            <a:ext cx="4022064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Barlow" panose="00000500000000000000" pitchFamily="2" charset="0"/>
              </a:rPr>
              <a:t>Findings</a:t>
            </a:r>
          </a:p>
          <a:p>
            <a:endParaRPr lang="en-US" sz="1600" dirty="0">
              <a:solidFill>
                <a:schemeClr val="bg1"/>
              </a:solidFill>
              <a:latin typeface="Barlow" panose="00000500000000000000" pitchFamily="2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Barlow" panose="00000500000000000000" pitchFamily="2" charset="0"/>
              </a:rPr>
              <a:t>• Industry AUM doubled from ₹30L Cr to ₹63L Cr.</a:t>
            </a:r>
          </a:p>
          <a:p>
            <a:endParaRPr lang="en-US" sz="1600" dirty="0">
              <a:solidFill>
                <a:schemeClr val="bg1"/>
              </a:solidFill>
              <a:latin typeface="Barlow" panose="00000500000000000000" pitchFamily="2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Barlow" panose="00000500000000000000" pitchFamily="2" charset="0"/>
              </a:rPr>
              <a:t>• SIP inflows reached a record ₹31K Cr in Dec 2025.</a:t>
            </a:r>
          </a:p>
          <a:p>
            <a:endParaRPr lang="en-US" sz="1600" dirty="0">
              <a:solidFill>
                <a:schemeClr val="bg1"/>
              </a:solidFill>
              <a:latin typeface="Barlow" panose="00000500000000000000" pitchFamily="2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Barlow" panose="00000500000000000000" pitchFamily="2" charset="0"/>
              </a:rPr>
              <a:t>• Equity and Flexi Cap funds delivered the strongest returns.</a:t>
            </a:r>
          </a:p>
          <a:p>
            <a:endParaRPr lang="en-US" sz="1600" dirty="0">
              <a:solidFill>
                <a:schemeClr val="bg1"/>
              </a:solidFill>
              <a:latin typeface="Barlow" panose="00000500000000000000" pitchFamily="2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Barlow" panose="00000500000000000000" pitchFamily="2" charset="0"/>
              </a:rPr>
              <a:t>• Top-ranked funds outperformed benchmark indices over 3 years.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91DFFD5-CD38-4534-964F-2F6B84093CE4}"/>
              </a:ext>
            </a:extLst>
          </p:cNvPr>
          <p:cNvSpPr txBox="1"/>
          <p:nvPr/>
        </p:nvSpPr>
        <p:spPr>
          <a:xfrm>
            <a:off x="4297032" y="1259134"/>
            <a:ext cx="457200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Barlow" panose="00000500000000000000" pitchFamily="2" charset="0"/>
              </a:rPr>
              <a:t>Recommendations</a:t>
            </a:r>
            <a:r>
              <a:rPr lang="en-US" sz="2000" dirty="0">
                <a:solidFill>
                  <a:schemeClr val="bg1"/>
                </a:solidFill>
                <a:latin typeface="Barlow" panose="00000500000000000000" pitchFamily="2" charset="0"/>
              </a:rPr>
              <a:t> </a:t>
            </a:r>
          </a:p>
          <a:p>
            <a:endParaRPr lang="en-US" sz="1600" dirty="0">
              <a:solidFill>
                <a:schemeClr val="bg1"/>
              </a:solidFill>
              <a:latin typeface="Barlow" panose="00000500000000000000" pitchFamily="2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Barlow" panose="00000500000000000000" pitchFamily="2" charset="0"/>
              </a:rPr>
              <a:t>• Evaluate funds using risk-adjusted metrics, not returns alone.</a:t>
            </a:r>
          </a:p>
          <a:p>
            <a:endParaRPr lang="en-US" sz="1600" dirty="0">
              <a:solidFill>
                <a:schemeClr val="bg1"/>
              </a:solidFill>
              <a:latin typeface="Barlow" panose="00000500000000000000" pitchFamily="2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Barlow" panose="00000500000000000000" pitchFamily="2" charset="0"/>
              </a:rPr>
              <a:t>• Track drawdown and benchmark performance regularly.</a:t>
            </a:r>
          </a:p>
          <a:p>
            <a:endParaRPr lang="en-US" sz="1600" dirty="0">
              <a:solidFill>
                <a:schemeClr val="bg1"/>
              </a:solidFill>
              <a:latin typeface="Barlow" panose="00000500000000000000" pitchFamily="2" charset="0"/>
            </a:endParaRPr>
          </a:p>
          <a:p>
            <a:r>
              <a:rPr lang="en-US" sz="1600" dirty="0">
                <a:solidFill>
                  <a:schemeClr val="bg1"/>
                </a:solidFill>
                <a:latin typeface="Barlow" panose="00000500000000000000" pitchFamily="2" charset="0"/>
              </a:rPr>
              <a:t>• Prefer consistently performing funds for long-term investing.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B589341-9190-FC28-9179-FFC4591BE5C6}"/>
              </a:ext>
            </a:extLst>
          </p:cNvPr>
          <p:cNvSpPr/>
          <p:nvPr/>
        </p:nvSpPr>
        <p:spPr>
          <a:xfrm>
            <a:off x="8041064" y="4807351"/>
            <a:ext cx="1011520" cy="318641"/>
          </a:xfrm>
          <a:prstGeom prst="rect">
            <a:avLst/>
          </a:prstGeom>
          <a:solidFill>
            <a:srgbClr val="070614"/>
          </a:solidFill>
          <a:ln>
            <a:solidFill>
              <a:srgbClr val="0706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65F1F08-CC47-0C5E-5B9B-8C4A83A4E054}"/>
              </a:ext>
            </a:extLst>
          </p:cNvPr>
          <p:cNvSpPr/>
          <p:nvPr/>
        </p:nvSpPr>
        <p:spPr>
          <a:xfrm>
            <a:off x="8041063" y="4807351"/>
            <a:ext cx="1054719" cy="318641"/>
          </a:xfrm>
          <a:prstGeom prst="rect">
            <a:avLst/>
          </a:prstGeom>
          <a:solidFill>
            <a:srgbClr val="070614"/>
          </a:solidFill>
          <a:ln>
            <a:solidFill>
              <a:srgbClr val="0706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4BFB5CA-54FD-3CD5-B5C7-9EED683D47EE}"/>
              </a:ext>
            </a:extLst>
          </p:cNvPr>
          <p:cNvSpPr txBox="1"/>
          <p:nvPr/>
        </p:nvSpPr>
        <p:spPr>
          <a:xfrm>
            <a:off x="2347274" y="1725105"/>
            <a:ext cx="541098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dirty="0">
                <a:solidFill>
                  <a:schemeClr val="bg1"/>
                </a:solidFill>
              </a:rPr>
              <a:t>THANK YOU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6D264E-C7B6-9B13-10EB-5AB9B2DFBAD0}"/>
              </a:ext>
            </a:extLst>
          </p:cNvPr>
          <p:cNvSpPr/>
          <p:nvPr/>
        </p:nvSpPr>
        <p:spPr>
          <a:xfrm>
            <a:off x="8041064" y="4807351"/>
            <a:ext cx="1011520" cy="318641"/>
          </a:xfrm>
          <a:prstGeom prst="rect">
            <a:avLst/>
          </a:prstGeom>
          <a:solidFill>
            <a:srgbClr val="070614"/>
          </a:solidFill>
          <a:ln>
            <a:solidFill>
              <a:srgbClr val="0706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34AFA61-9422-D408-DBE6-7671828FEFE2}"/>
              </a:ext>
            </a:extLst>
          </p:cNvPr>
          <p:cNvSpPr/>
          <p:nvPr/>
        </p:nvSpPr>
        <p:spPr>
          <a:xfrm>
            <a:off x="8041063" y="4807351"/>
            <a:ext cx="1054719" cy="318641"/>
          </a:xfrm>
          <a:prstGeom prst="rect">
            <a:avLst/>
          </a:prstGeom>
          <a:solidFill>
            <a:srgbClr val="070614"/>
          </a:solidFill>
          <a:ln>
            <a:solidFill>
              <a:srgbClr val="07061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907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</TotalTime>
  <Words>686</Words>
  <Application>Microsoft Office PowerPoint</Application>
  <PresentationFormat>On-screen Show (16:9)</PresentationFormat>
  <Paragraphs>137</Paragraphs>
  <Slides>12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Spline Sans Bold</vt:lpstr>
      <vt:lpstr>Arial</vt:lpstr>
      <vt:lpstr>Barlow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Asus</dc:creator>
  <cp:lastModifiedBy>Lakshya Arora</cp:lastModifiedBy>
  <cp:revision>2</cp:revision>
  <dcterms:created xsi:type="dcterms:W3CDTF">2026-06-11T08:04:35Z</dcterms:created>
  <dcterms:modified xsi:type="dcterms:W3CDTF">2026-06-11T15:49:17Z</dcterms:modified>
</cp:coreProperties>
</file>